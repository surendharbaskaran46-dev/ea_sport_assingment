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mo" panose="020B0604020202020204" charset="0"/>
      <p:regular r:id="rId21"/>
    </p:embeddedFont>
    <p:embeddedFont>
      <p:font typeface="DM Sans" pitchFamily="2" charset="0"/>
      <p:regular r:id="rId22"/>
    </p:embeddedFont>
    <p:embeddedFont>
      <p:font typeface="DM Sans Bold" panose="020B0604020202020204" charset="0"/>
      <p:regular r:id="rId23"/>
    </p:embeddedFont>
    <p:embeddedFont>
      <p:font typeface="DM Sans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Appendix cover slide. Outlines methodology, audit reconciliation, data-quality adjustments, and modeling constraints behind the core findings.</a:t>
            </a:r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Reconciled daily health table across 120 days and 2 platforms. Fixed the 15.5% revenue undercount bug caused by player_day join dependencies. Retention cohorts outside observation bounds kept as NULL.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Three core data-quality adjustments: 8-hour ad timestamp correction (uncovered March 5-6 outage), pair-by-pair audit of 122 duplicate purchases, and 222 of 226 refunds matched. 112 device-ID chains noted for future graph work.</a:t>
            </a:r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Analyzed 11,054 payers. Concentration: top 1% = 9.32%, top 10% = 60.26%, top 50% = 90.92%. Excluded 110 corrupted install timestamps. Repeat timing spans fast repeats (30% in week 1) and long tails (26% at 30+ days). Ad caps are rarely binding.</a:t>
            </a:r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Day-level baseline comparison proved invalid due to frequent sales (only 8 quiet days in 120, half during window initialization). Payer segmentation reveals 24.07% are sale-only and buy-both payers spend equally on sale/non-sale days. A holdout test is required.</a:t>
            </a:r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Controlled for tier mix (paid_video is 71% Tier 4). In Tier 1, Organic beats Paid Social by $0.426 (95% CI: 0.043, 0.809). Organic vs Paid Video is +$0.329 but crosses zero. In Tier 4, Paid Video shows a robust +7.04 pt engagement advantage. Lacking CPI precludes budget allocation.</a:t>
            </a:r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Multicollinearity review: Churn features active_days and total_sessions correlated at 0.91; dropping one retained performance. In the LTV model, first-7-day active days, sessions, and playtime correlated 0.84-0.99 with level, producing nonsensical negative coefficients until pruned.</a:t>
            </a:r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Three prioritized workstreams for the upcoming week: get real churn unit costs from live-ops, revalidate install-value scoring against recent Tier 4 heavy cohorts, and run recursive graph resolution on the 112 multi-hop device ID chains.</a:t>
            </a:r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00710" y="781679"/>
            <a:ext cx="120105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GROWTH WITHOUT MORE SPEND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00710" y="1391736"/>
            <a:ext cx="11476768" cy="47435"/>
            <a:chOff x="0" y="0"/>
            <a:chExt cx="15302357" cy="632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02357" cy="63247"/>
            </a:xfrm>
            <a:custGeom>
              <a:avLst/>
              <a:gdLst/>
              <a:ahLst/>
              <a:cxnLst/>
              <a:rect l="l" t="t" r="r" b="b"/>
              <a:pathLst>
                <a:path w="15302357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5270735" y="0"/>
                  </a:lnTo>
                  <a:cubicBezTo>
                    <a:pt x="15288261" y="0"/>
                    <a:pt x="15302357" y="14224"/>
                    <a:pt x="15302357" y="31623"/>
                  </a:cubicBezTo>
                  <a:cubicBezTo>
                    <a:pt x="15302357" y="49022"/>
                    <a:pt x="15288133" y="63246"/>
                    <a:pt x="1527073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00710" y="3550691"/>
            <a:ext cx="11476777" cy="316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WHAT THE PLAYER DATA ACTUALLY SAYS</a:t>
            </a:r>
          </a:p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ABOUT WHERE REVENUE CAN GROW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710" y="9225191"/>
            <a:ext cx="120105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120 DAYS OF TELEMETRY  ·  80,295 PLAYERS  ·  FOUR ANALYSES, ONE RECOMMENDATION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811287" y="571948"/>
            <a:ext cx="4689824" cy="9036748"/>
            <a:chOff x="0" y="0"/>
            <a:chExt cx="6253099" cy="1204899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253099" cy="12048998"/>
            </a:xfrm>
            <a:custGeom>
              <a:avLst/>
              <a:gdLst/>
              <a:ahLst/>
              <a:cxnLst/>
              <a:rect l="l" t="t" r="r" b="b"/>
              <a:pathLst>
                <a:path w="6253099" h="12048998">
                  <a:moveTo>
                    <a:pt x="0" y="0"/>
                  </a:moveTo>
                  <a:lnTo>
                    <a:pt x="6253099" y="0"/>
                  </a:lnTo>
                  <a:lnTo>
                    <a:pt x="6253099" y="12048998"/>
                  </a:lnTo>
                  <a:lnTo>
                    <a:pt x="0" y="12048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" b="-1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769629" y="7511567"/>
            <a:ext cx="5338000" cy="1639538"/>
            <a:chOff x="0" y="0"/>
            <a:chExt cx="7117334" cy="21860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17334" cy="2186051"/>
            </a:xfrm>
            <a:custGeom>
              <a:avLst/>
              <a:gdLst/>
              <a:ahLst/>
              <a:cxnLst/>
              <a:rect l="l" t="t" r="r" b="b"/>
              <a:pathLst>
                <a:path w="7117334" h="2186051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6946519" y="0"/>
                  </a:lnTo>
                  <a:cubicBezTo>
                    <a:pt x="7040880" y="0"/>
                    <a:pt x="7117334" y="76454"/>
                    <a:pt x="7117334" y="170815"/>
                  </a:cubicBezTo>
                  <a:lnTo>
                    <a:pt x="7117334" y="2015236"/>
                  </a:lnTo>
                  <a:cubicBezTo>
                    <a:pt x="7117334" y="2109597"/>
                    <a:pt x="7040880" y="2186051"/>
                    <a:pt x="6946519" y="2186051"/>
                  </a:cubicBezTo>
                  <a:lnTo>
                    <a:pt x="170815" y="2186051"/>
                  </a:lnTo>
                  <a:cubicBezTo>
                    <a:pt x="76454" y="2186051"/>
                    <a:pt x="0" y="2109597"/>
                    <a:pt x="0" y="2015236"/>
                  </a:cubicBezTo>
                  <a:close/>
                </a:path>
              </a:pathLst>
            </a:custGeom>
            <a:solidFill>
              <a:srgbClr val="78B7F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074668" y="8002086"/>
            <a:ext cx="3434124" cy="60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EXECUTIVE READOUT</a:t>
            </a:r>
          </a:p>
          <a:p>
            <a:pPr algn="l">
              <a:lnSpc>
                <a:spcPts val="2136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FOUR ANALYSES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91100" y="7770143"/>
            <a:ext cx="1119673" cy="1122531"/>
            <a:chOff x="0" y="0"/>
            <a:chExt cx="1492898" cy="1496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3012" cy="1496822"/>
            </a:xfrm>
            <a:custGeom>
              <a:avLst/>
              <a:gdLst/>
              <a:ahLst/>
              <a:cxnLst/>
              <a:rect l="l" t="t" r="r" b="b"/>
              <a:pathLst>
                <a:path w="1493012" h="1496822">
                  <a:moveTo>
                    <a:pt x="0" y="748411"/>
                  </a:moveTo>
                  <a:cubicBezTo>
                    <a:pt x="0" y="335026"/>
                    <a:pt x="334264" y="0"/>
                    <a:pt x="746506" y="0"/>
                  </a:cubicBezTo>
                  <a:cubicBezTo>
                    <a:pt x="1158748" y="0"/>
                    <a:pt x="1493012" y="335026"/>
                    <a:pt x="1493012" y="748411"/>
                  </a:cubicBezTo>
                  <a:cubicBezTo>
                    <a:pt x="1493012" y="1161796"/>
                    <a:pt x="1158748" y="1496822"/>
                    <a:pt x="746506" y="1496822"/>
                  </a:cubicBezTo>
                  <a:cubicBezTo>
                    <a:pt x="334264" y="1496822"/>
                    <a:pt x="0" y="1161542"/>
                    <a:pt x="0" y="74841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713" r="-78706" b="7"/>
              </a:stretch>
            </a:blip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699435" y="7976797"/>
            <a:ext cx="1103052" cy="61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300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96064"/>
            <a:ext cx="16471659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FINDING 1 · THE HEADLINE 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208294"/>
            <a:ext cx="16471659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ARPDAU FELL 16.7% — BUT NO MARKET SPENT LESS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2321147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06751" y="2891914"/>
            <a:ext cx="5278469" cy="5580993"/>
          </a:xfrm>
          <a:custGeom>
            <a:avLst/>
            <a:gdLst/>
            <a:ahLst/>
            <a:cxnLst/>
            <a:rect l="l" t="t" r="r" b="b"/>
            <a:pathLst>
              <a:path w="5278469" h="5580993">
                <a:moveTo>
                  <a:pt x="0" y="0"/>
                </a:moveTo>
                <a:lnTo>
                  <a:pt x="5278470" y="0"/>
                </a:lnTo>
                <a:lnTo>
                  <a:pt x="5278470" y="5580993"/>
                </a:lnTo>
                <a:lnTo>
                  <a:pt x="0" y="558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67787" y="4038781"/>
            <a:ext cx="4556398" cy="6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-16.7%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787" y="4963592"/>
            <a:ext cx="4556398" cy="76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OVERALL ARPDAU</a:t>
            </a:r>
          </a:p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FIRST 30 DAYS → LAST 30 DAYS</a:t>
            </a:r>
          </a:p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OF THE TRACKED WINDOW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67787" y="5978785"/>
            <a:ext cx="4556379" cy="47435"/>
            <a:chOff x="0" y="0"/>
            <a:chExt cx="6075172" cy="632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75172" cy="63247"/>
            </a:xfrm>
            <a:custGeom>
              <a:avLst/>
              <a:gdLst/>
              <a:ahLst/>
              <a:cxnLst/>
              <a:rect l="l" t="t" r="r" b="b"/>
              <a:pathLst>
                <a:path w="607517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6043549" y="0"/>
                  </a:lnTo>
                  <a:cubicBezTo>
                    <a:pt x="6061075" y="0"/>
                    <a:pt x="6075172" y="14224"/>
                    <a:pt x="6075172" y="31623"/>
                  </a:cubicBezTo>
                  <a:cubicBezTo>
                    <a:pt x="6075172" y="49149"/>
                    <a:pt x="6060948" y="63246"/>
                    <a:pt x="604354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67787" y="6195698"/>
            <a:ext cx="4556398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Every single country tier improved or held flat over the same period</a:t>
            </a:r>
          </a:p>
        </p:txBody>
      </p:sp>
      <p:sp>
        <p:nvSpPr>
          <p:cNvPr id="16" name="Freeform 16"/>
          <p:cNvSpPr/>
          <p:nvPr/>
        </p:nvSpPr>
        <p:spPr>
          <a:xfrm>
            <a:off x="6854857" y="2891914"/>
            <a:ext cx="10540279" cy="5580993"/>
          </a:xfrm>
          <a:custGeom>
            <a:avLst/>
            <a:gdLst/>
            <a:ahLst/>
            <a:cxnLst/>
            <a:rect l="l" t="t" r="r" b="b"/>
            <a:pathLst>
              <a:path w="10540279" h="5580993">
                <a:moveTo>
                  <a:pt x="0" y="0"/>
                </a:moveTo>
                <a:lnTo>
                  <a:pt x="10540279" y="0"/>
                </a:lnTo>
                <a:lnTo>
                  <a:pt x="10540279" y="5580993"/>
                </a:lnTo>
                <a:lnTo>
                  <a:pt x="0" y="558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215883" y="3233899"/>
            <a:ext cx="10170871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SHARE OF ACTIVE PLAYERS, BY MARKET TIER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215883" y="3674755"/>
            <a:ext cx="9818180" cy="4437031"/>
            <a:chOff x="0" y="0"/>
            <a:chExt cx="13090906" cy="591604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3090906" cy="5916041"/>
            </a:xfrm>
            <a:custGeom>
              <a:avLst/>
              <a:gdLst/>
              <a:ahLst/>
              <a:cxnLst/>
              <a:rect l="l" t="t" r="r" b="b"/>
              <a:pathLst>
                <a:path w="13090906" h="5916041">
                  <a:moveTo>
                    <a:pt x="0" y="0"/>
                  </a:moveTo>
                  <a:lnTo>
                    <a:pt x="13090906" y="0"/>
                  </a:lnTo>
                  <a:lnTo>
                    <a:pt x="13090906" y="5916041"/>
                  </a:lnTo>
                  <a:lnTo>
                    <a:pt x="0" y="5916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4" b="-14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915095" y="8636117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SIMPSON'S PARADOX: THE AVERAGE IS A BLEND, AND THE BLEND SHIFTED HARD TOWARD THE LOWEST-SPENDING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8771" y="209731"/>
            <a:ext cx="1784429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FINDING 2 · ROOT CAUSE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771" y="521960"/>
            <a:ext cx="17844297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THE SHIFT STARTS AT ACQUISITION, NOT RETENTION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28771" y="1634814"/>
            <a:ext cx="17844230" cy="47435"/>
            <a:chOff x="0" y="0"/>
            <a:chExt cx="23792307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92307" cy="63247"/>
            </a:xfrm>
            <a:custGeom>
              <a:avLst/>
              <a:gdLst/>
              <a:ahLst/>
              <a:cxnLst/>
              <a:rect l="l" t="t" r="r" b="b"/>
              <a:pathLst>
                <a:path w="23792307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3760685" y="0"/>
                  </a:lnTo>
                  <a:cubicBezTo>
                    <a:pt x="23778211" y="0"/>
                    <a:pt x="23792307" y="14224"/>
                    <a:pt x="23792307" y="31623"/>
                  </a:cubicBezTo>
                  <a:cubicBezTo>
                    <a:pt x="23792307" y="49022"/>
                    <a:pt x="23778083" y="63246"/>
                    <a:pt x="2376068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220437" y="2908592"/>
            <a:ext cx="10883370" cy="6196108"/>
          </a:xfrm>
          <a:custGeom>
            <a:avLst/>
            <a:gdLst/>
            <a:ahLst/>
            <a:cxnLst/>
            <a:rect l="l" t="t" r="r" b="b"/>
            <a:pathLst>
              <a:path w="10883370" h="6196108">
                <a:moveTo>
                  <a:pt x="0" y="0"/>
                </a:moveTo>
                <a:lnTo>
                  <a:pt x="10883370" y="0"/>
                </a:lnTo>
                <a:lnTo>
                  <a:pt x="10883370" y="6196108"/>
                </a:lnTo>
                <a:lnTo>
                  <a:pt x="0" y="6196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1463" y="3250578"/>
            <a:ext cx="10514028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NEW INSTALL DISTRIBUTION ACROSS MARKET TIERS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81463" y="3786769"/>
            <a:ext cx="9722834" cy="4956905"/>
            <a:chOff x="0" y="0"/>
            <a:chExt cx="12963779" cy="660920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2963779" cy="6609207"/>
            </a:xfrm>
            <a:custGeom>
              <a:avLst/>
              <a:gdLst/>
              <a:ahLst/>
              <a:cxnLst/>
              <a:rect l="l" t="t" r="r" b="b"/>
              <a:pathLst>
                <a:path w="12963779" h="6609207">
                  <a:moveTo>
                    <a:pt x="0" y="0"/>
                  </a:moveTo>
                  <a:lnTo>
                    <a:pt x="12963779" y="0"/>
                  </a:lnTo>
                  <a:lnTo>
                    <a:pt x="12963779" y="6609207"/>
                  </a:lnTo>
                  <a:lnTo>
                    <a:pt x="0" y="6609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7" b="-6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1773319" y="3385366"/>
            <a:ext cx="6307941" cy="2280676"/>
          </a:xfrm>
          <a:custGeom>
            <a:avLst/>
            <a:gdLst/>
            <a:ahLst/>
            <a:cxnLst/>
            <a:rect l="l" t="t" r="r" b="b"/>
            <a:pathLst>
              <a:path w="6307941" h="2280676">
                <a:moveTo>
                  <a:pt x="0" y="0"/>
                </a:moveTo>
                <a:lnTo>
                  <a:pt x="6307941" y="0"/>
                </a:lnTo>
                <a:lnTo>
                  <a:pt x="6307941" y="2280676"/>
                </a:lnTo>
                <a:lnTo>
                  <a:pt x="0" y="2280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96226" y="3898773"/>
            <a:ext cx="5662136" cy="6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DCE6EF"/>
                </a:solidFill>
                <a:latin typeface="Arimo"/>
                <a:ea typeface="Arimo"/>
                <a:cs typeface="Arimo"/>
                <a:sym typeface="Arimo"/>
              </a:rPr>
              <a:t>18% → 63%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6226" y="4823584"/>
            <a:ext cx="5662136" cy="51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OF ALL NEW INSTALLS NOW COME FROM TIER 4 — THE LOWEST-SPENDING MARKETS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773319" y="5878097"/>
            <a:ext cx="6307941" cy="2749877"/>
          </a:xfrm>
          <a:custGeom>
            <a:avLst/>
            <a:gdLst/>
            <a:ahLst/>
            <a:cxnLst/>
            <a:rect l="l" t="t" r="r" b="b"/>
            <a:pathLst>
              <a:path w="6307941" h="2749877">
                <a:moveTo>
                  <a:pt x="0" y="0"/>
                </a:moveTo>
                <a:lnTo>
                  <a:pt x="6307941" y="0"/>
                </a:lnTo>
                <a:lnTo>
                  <a:pt x="6307941" y="2749877"/>
                </a:lnTo>
                <a:lnTo>
                  <a:pt x="0" y="2749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096226" y="6143854"/>
            <a:ext cx="5662136" cy="86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This is a UA (user acquisition) question, not a monetization one.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96226" y="7294559"/>
            <a:ext cx="5662136" cy="47435"/>
            <a:chOff x="0" y="0"/>
            <a:chExt cx="7549515" cy="632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49515" cy="63247"/>
            </a:xfrm>
            <a:custGeom>
              <a:avLst/>
              <a:gdLst/>
              <a:ahLst/>
              <a:cxnLst/>
              <a:rect l="l" t="t" r="r" b="b"/>
              <a:pathLst>
                <a:path w="7549515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7517892" y="0"/>
                  </a:lnTo>
                  <a:cubicBezTo>
                    <a:pt x="7535418" y="0"/>
                    <a:pt x="7549515" y="14224"/>
                    <a:pt x="7549515" y="31623"/>
                  </a:cubicBezTo>
                  <a:cubicBezTo>
                    <a:pt x="7549515" y="49149"/>
                    <a:pt x="7535291" y="63246"/>
                    <a:pt x="7517892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07111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096226" y="7625858"/>
            <a:ext cx="5662136" cy="679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800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No pricing or economy change is justified — the mix of who we acquire moved, not how people spend.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8771" y="209731"/>
            <a:ext cx="18073068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FINDING 3 · WHERE TO SPEND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771" y="521960"/>
            <a:ext cx="17844297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NO SINGLE “BEST” CHANNEL — IT DEPENDS ON THE MARKET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28771" y="1634814"/>
            <a:ext cx="17844230" cy="47435"/>
            <a:chOff x="0" y="0"/>
            <a:chExt cx="23792307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92307" cy="63247"/>
            </a:xfrm>
            <a:custGeom>
              <a:avLst/>
              <a:gdLst/>
              <a:ahLst/>
              <a:cxnLst/>
              <a:rect l="l" t="t" r="r" b="b"/>
              <a:pathLst>
                <a:path w="23792307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3760685" y="0"/>
                  </a:lnTo>
                  <a:cubicBezTo>
                    <a:pt x="23778211" y="0"/>
                    <a:pt x="23792307" y="14224"/>
                    <a:pt x="23792307" y="31623"/>
                  </a:cubicBezTo>
                  <a:cubicBezTo>
                    <a:pt x="23792307" y="49022"/>
                    <a:pt x="23778083" y="63246"/>
                    <a:pt x="2376068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-8334" y="2205571"/>
            <a:ext cx="8824446" cy="5783780"/>
          </a:xfrm>
          <a:custGeom>
            <a:avLst/>
            <a:gdLst/>
            <a:ahLst/>
            <a:cxnLst/>
            <a:rect l="l" t="t" r="r" b="b"/>
            <a:pathLst>
              <a:path w="8824446" h="5783780">
                <a:moveTo>
                  <a:pt x="0" y="0"/>
                </a:moveTo>
                <a:lnTo>
                  <a:pt x="8824445" y="0"/>
                </a:lnTo>
                <a:lnTo>
                  <a:pt x="8824445" y="5783780"/>
                </a:lnTo>
                <a:lnTo>
                  <a:pt x="0" y="578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4563" y="2509428"/>
            <a:ext cx="84931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b="1" spc="17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TIER 1 (BEST MARKETS) — REVENUE PER INSTALL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14563" y="3045619"/>
            <a:ext cx="7435120" cy="3717608"/>
            <a:chOff x="0" y="0"/>
            <a:chExt cx="9913493" cy="495681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913493" cy="4956810"/>
            </a:xfrm>
            <a:custGeom>
              <a:avLst/>
              <a:gdLst/>
              <a:ahLst/>
              <a:cxnLst/>
              <a:rect l="l" t="t" r="r" b="b"/>
              <a:pathLst>
                <a:path w="9913493" h="4956810">
                  <a:moveTo>
                    <a:pt x="0" y="0"/>
                  </a:moveTo>
                  <a:lnTo>
                    <a:pt x="9913493" y="0"/>
                  </a:lnTo>
                  <a:lnTo>
                    <a:pt x="9913493" y="4956810"/>
                  </a:lnTo>
                  <a:lnTo>
                    <a:pt x="0" y="4956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14563" y="6896738"/>
            <a:ext cx="8178632" cy="76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DCE6E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ORGANIC BEATS PAID SOCIAL — STATISTICALLY SIGNIFICANT (95% CI EXCLUDES ZERO). ORGANIC VS. PAID VIDEO LOOKS SIMILAR BUT ISN’T PROVABLE YET (SMALL SAMPLE).</a:t>
            </a:r>
          </a:p>
        </p:txBody>
      </p:sp>
      <p:sp>
        <p:nvSpPr>
          <p:cNvPr id="15" name="Freeform 15"/>
          <p:cNvSpPr/>
          <p:nvPr/>
        </p:nvSpPr>
        <p:spPr>
          <a:xfrm>
            <a:off x="9485738" y="2205571"/>
            <a:ext cx="8824446" cy="5783780"/>
          </a:xfrm>
          <a:custGeom>
            <a:avLst/>
            <a:gdLst/>
            <a:ahLst/>
            <a:cxnLst/>
            <a:rect l="l" t="t" r="r" b="b"/>
            <a:pathLst>
              <a:path w="8824446" h="5783780">
                <a:moveTo>
                  <a:pt x="0" y="0"/>
                </a:moveTo>
                <a:lnTo>
                  <a:pt x="8824446" y="0"/>
                </a:lnTo>
                <a:lnTo>
                  <a:pt x="8824446" y="5783780"/>
                </a:lnTo>
                <a:lnTo>
                  <a:pt x="0" y="578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08645" y="2509428"/>
            <a:ext cx="84931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b="1" spc="17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TIER 4 (LOW-SPEND MARKETS) — DAY-7 RETENTION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808645" y="3045619"/>
            <a:ext cx="7435120" cy="3717608"/>
            <a:chOff x="0" y="0"/>
            <a:chExt cx="9913493" cy="495681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913493" cy="4956810"/>
            </a:xfrm>
            <a:custGeom>
              <a:avLst/>
              <a:gdLst/>
              <a:ahLst/>
              <a:cxnLst/>
              <a:rect l="l" t="t" r="r" b="b"/>
              <a:pathLst>
                <a:path w="9913493" h="4956810">
                  <a:moveTo>
                    <a:pt x="0" y="0"/>
                  </a:moveTo>
                  <a:lnTo>
                    <a:pt x="9913493" y="0"/>
                  </a:lnTo>
                  <a:lnTo>
                    <a:pt x="9913493" y="4956810"/>
                  </a:lnTo>
                  <a:lnTo>
                    <a:pt x="0" y="4956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808645" y="6896738"/>
            <a:ext cx="8178632" cy="51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DCE6E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PAID VIDEO GENUINELY RETAINS BETTER IN LOW-TIER MARKETS — LARGE, ROBUST GAP (95% CI: +5.8 TO +8.3 POINTS).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96064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FINDING 4 · MONETIZATION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063323"/>
            <a:ext cx="16471659" cy="1326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KEEP THE SALE CADENCE — DON’T CUT IT, DON’T CHASE IT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2321147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06751" y="2701261"/>
            <a:ext cx="7909370" cy="6687026"/>
          </a:xfrm>
          <a:custGeom>
            <a:avLst/>
            <a:gdLst/>
            <a:ahLst/>
            <a:cxnLst/>
            <a:rect l="l" t="t" r="r" b="b"/>
            <a:pathLst>
              <a:path w="7909370" h="6687026">
                <a:moveTo>
                  <a:pt x="0" y="0"/>
                </a:moveTo>
                <a:lnTo>
                  <a:pt x="7909370" y="0"/>
                </a:lnTo>
                <a:lnTo>
                  <a:pt x="7909370" y="6687027"/>
                </a:lnTo>
                <a:lnTo>
                  <a:pt x="0" y="66870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9658" y="4261171"/>
            <a:ext cx="7578109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SHARE OF TOTAL REVENUE, BY BUYER TYPE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229656" y="4702029"/>
          <a:ext cx="7239000" cy="3059355"/>
        </p:xfrm>
        <a:graphic>
          <a:graphicData uri="http://schemas.openxmlformats.org/drawingml/2006/table">
            <a:tbl>
              <a:tblPr/>
              <a:tblGrid>
                <a:gridCol w="504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7901"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Buyer type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Revenue share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51"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Full-price only (43%)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43.09%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451"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Buys both (33%)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32.84%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97"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Sale-only (24%)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81"/>
                        </a:lnSpc>
                        <a:defRPr/>
                      </a:pPr>
                      <a:r>
                        <a:rPr lang="en-US" sz="2400">
                          <a:solidFill>
                            <a:srgbClr val="DCE6E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24.07%</a:t>
                      </a:r>
                      <a:endParaRPr lang="en-US" sz="1100"/>
                    </a:p>
                  </a:txBody>
                  <a:tcPr marL="152396" marR="152396" marT="152396" marB="152396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9485738" y="2701261"/>
            <a:ext cx="7909284" cy="2087604"/>
          </a:xfrm>
          <a:custGeom>
            <a:avLst/>
            <a:gdLst/>
            <a:ahLst/>
            <a:cxnLst/>
            <a:rect l="l" t="t" r="r" b="b"/>
            <a:pathLst>
              <a:path w="7909284" h="2087604">
                <a:moveTo>
                  <a:pt x="0" y="0"/>
                </a:moveTo>
                <a:lnTo>
                  <a:pt x="7909284" y="0"/>
                </a:lnTo>
                <a:lnTo>
                  <a:pt x="7909284" y="2087604"/>
                </a:lnTo>
                <a:lnTo>
                  <a:pt x="0" y="2087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9691364" y="3506610"/>
            <a:ext cx="150098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400" dirty="0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24%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21370" y="3046571"/>
            <a:ext cx="5688940" cy="125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 dirty="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of all revenue comes from players who NEVER pay full price — sales aren’t stealing this spend, they’re creating it.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9485738" y="5000958"/>
            <a:ext cx="7909284" cy="2087604"/>
          </a:xfrm>
          <a:custGeom>
            <a:avLst/>
            <a:gdLst/>
            <a:ahLst/>
            <a:cxnLst/>
            <a:rect l="l" t="t" r="r" b="b"/>
            <a:pathLst>
              <a:path w="7909284" h="2087604">
                <a:moveTo>
                  <a:pt x="0" y="0"/>
                </a:moveTo>
                <a:lnTo>
                  <a:pt x="7909284" y="0"/>
                </a:lnTo>
                <a:lnTo>
                  <a:pt x="7909284" y="2087604"/>
                </a:lnTo>
                <a:lnTo>
                  <a:pt x="0" y="2087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86029" y="5815832"/>
            <a:ext cx="991200" cy="6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~0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21370" y="5346278"/>
            <a:ext cx="5688940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difference in spending for our highest-value payers, on sale days vs. not — no sign they’re just “waiting.”</a:t>
            </a:r>
          </a:p>
        </p:txBody>
      </p:sp>
      <p:sp>
        <p:nvSpPr>
          <p:cNvPr id="19" name="Freeform 19"/>
          <p:cNvSpPr/>
          <p:nvPr/>
        </p:nvSpPr>
        <p:spPr>
          <a:xfrm>
            <a:off x="9485738" y="7300665"/>
            <a:ext cx="7909284" cy="2087604"/>
          </a:xfrm>
          <a:custGeom>
            <a:avLst/>
            <a:gdLst/>
            <a:ahLst/>
            <a:cxnLst/>
            <a:rect l="l" t="t" r="r" b="b"/>
            <a:pathLst>
              <a:path w="7909284" h="2087604">
                <a:moveTo>
                  <a:pt x="0" y="0"/>
                </a:moveTo>
                <a:lnTo>
                  <a:pt x="7909284" y="0"/>
                </a:lnTo>
                <a:lnTo>
                  <a:pt x="7909284" y="2087604"/>
                </a:lnTo>
                <a:lnTo>
                  <a:pt x="0" y="2087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053799" y="8115538"/>
            <a:ext cx="855659" cy="6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21370" y="7645975"/>
            <a:ext cx="5688940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No reliable “quiet period” exists to compare against — 90%+ of days sit within 3 days of a sale.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43157" y="324117"/>
            <a:ext cx="17958683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FINDING 5 · RETENTION 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3157" y="636356"/>
            <a:ext cx="17615525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A CHURN MODEL THAT WORKS — WITH ONE MISSING INPUT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43157" y="1749200"/>
            <a:ext cx="17615440" cy="47435"/>
            <a:chOff x="0" y="0"/>
            <a:chExt cx="23487253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87253" cy="63247"/>
            </a:xfrm>
            <a:custGeom>
              <a:avLst/>
              <a:gdLst/>
              <a:ahLst/>
              <a:cxnLst/>
              <a:rect l="l" t="t" r="r" b="b"/>
              <a:pathLst>
                <a:path w="23487253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3455630" y="0"/>
                  </a:lnTo>
                  <a:cubicBezTo>
                    <a:pt x="23473156" y="0"/>
                    <a:pt x="23487253" y="14224"/>
                    <a:pt x="23487253" y="31623"/>
                  </a:cubicBezTo>
                  <a:cubicBezTo>
                    <a:pt x="23487253" y="49022"/>
                    <a:pt x="23473029" y="63246"/>
                    <a:pt x="2345563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8334" y="2319966"/>
            <a:ext cx="6475771" cy="5828548"/>
            <a:chOff x="0" y="0"/>
            <a:chExt cx="8634362" cy="77713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34349" cy="7771384"/>
            </a:xfrm>
            <a:custGeom>
              <a:avLst/>
              <a:gdLst/>
              <a:ahLst/>
              <a:cxnLst/>
              <a:rect l="l" t="t" r="r" b="b"/>
              <a:pathLst>
                <a:path w="8634349" h="7771384">
                  <a:moveTo>
                    <a:pt x="0" y="0"/>
                  </a:moveTo>
                  <a:lnTo>
                    <a:pt x="8634349" y="0"/>
                  </a:lnTo>
                  <a:lnTo>
                    <a:pt x="8634349" y="7771384"/>
                  </a:lnTo>
                  <a:lnTo>
                    <a:pt x="0" y="7771384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352692" y="2871502"/>
            <a:ext cx="5753729" cy="6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0.72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2692" y="3796313"/>
            <a:ext cx="5753729" cy="76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ROC-AUC</a:t>
            </a:r>
          </a:p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CORRECTLY RANKS A CHURNER</a:t>
            </a:r>
          </a:p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ABOVE A STAYER 72% OF THE TIME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2692" y="4906832"/>
            <a:ext cx="5753576" cy="47435"/>
            <a:chOff x="0" y="0"/>
            <a:chExt cx="7671435" cy="632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71435" cy="63247"/>
            </a:xfrm>
            <a:custGeom>
              <a:avLst/>
              <a:gdLst/>
              <a:ahLst/>
              <a:cxnLst/>
              <a:rect l="l" t="t" r="r" b="b"/>
              <a:pathLst>
                <a:path w="7671435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7639812" y="0"/>
                  </a:lnTo>
                  <a:cubicBezTo>
                    <a:pt x="7657338" y="0"/>
                    <a:pt x="7671435" y="14224"/>
                    <a:pt x="7671435" y="31623"/>
                  </a:cubicBezTo>
                  <a:cubicBezTo>
                    <a:pt x="7671435" y="49149"/>
                    <a:pt x="7657211" y="63246"/>
                    <a:pt x="7639812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352692" y="5219071"/>
            <a:ext cx="5753729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39,942</a:t>
            </a:r>
          </a:p>
          <a:p>
            <a:pPr algn="l">
              <a:lnSpc>
                <a:spcPts val="3255"/>
              </a:lnSpc>
            </a:pPr>
            <a:r>
              <a:rPr lang="en-US" sz="24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active players scored</a:t>
            </a:r>
          </a:p>
          <a:p>
            <a:pPr algn="l">
              <a:lnSpc>
                <a:spcPts val="3255"/>
              </a:lnSpc>
            </a:pPr>
            <a:r>
              <a:rPr lang="en-US" sz="24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25.4% churn in 14 days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36949" y="2319966"/>
            <a:ext cx="11173216" cy="5828548"/>
            <a:chOff x="0" y="0"/>
            <a:chExt cx="14897621" cy="77713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897608" cy="7771384"/>
            </a:xfrm>
            <a:custGeom>
              <a:avLst/>
              <a:gdLst/>
              <a:ahLst/>
              <a:cxnLst/>
              <a:rect l="l" t="t" r="r" b="b"/>
              <a:pathLst>
                <a:path w="14897608" h="7771384">
                  <a:moveTo>
                    <a:pt x="0" y="0"/>
                  </a:moveTo>
                  <a:lnTo>
                    <a:pt x="14897608" y="0"/>
                  </a:lnTo>
                  <a:lnTo>
                    <a:pt x="14897608" y="7771384"/>
                  </a:lnTo>
                  <a:lnTo>
                    <a:pt x="0" y="7771384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497975" y="2661952"/>
            <a:ext cx="1080386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TARGETING AT THE RIGHT CUTOFF — NOT THE DEFAULT — NEARLY TRIPLES VALUE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497975" y="3198133"/>
            <a:ext cx="9532239" cy="3719417"/>
            <a:chOff x="0" y="0"/>
            <a:chExt cx="12709652" cy="495922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2709652" cy="4959223"/>
            </a:xfrm>
            <a:custGeom>
              <a:avLst/>
              <a:gdLst/>
              <a:ahLst/>
              <a:cxnLst/>
              <a:rect l="l" t="t" r="r" b="b"/>
              <a:pathLst>
                <a:path w="12709652" h="4959223">
                  <a:moveTo>
                    <a:pt x="0" y="0"/>
                  </a:moveTo>
                  <a:lnTo>
                    <a:pt x="12709652" y="0"/>
                  </a:lnTo>
                  <a:lnTo>
                    <a:pt x="12709652" y="4959223"/>
                  </a:lnTo>
                  <a:lnTo>
                    <a:pt x="0" y="4959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3" b="-214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497975" y="7017687"/>
            <a:ext cx="10451173" cy="76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DCE6E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ILLUSTRATIVE, UNDER AN ASSUMED OFFER COST AND SAVE RATE — THE REAL OPTIMUM DEPENDS ON NUMBERS LIVE-OPS HASN’T SUPPLIED YET. UNDER PRICIER OR LESS-EFFECTIVE OFFERS, THE MATH CAN FLIP NEGATIVE ENTIRELY.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43157" y="209731"/>
            <a:ext cx="17958683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SO WHAT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3157" y="521960"/>
            <a:ext cx="17615525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WHAT THIS MEANS FOR THE BUDGET CONVERSATION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43157" y="1634814"/>
            <a:ext cx="17615440" cy="47435"/>
            <a:chOff x="0" y="0"/>
            <a:chExt cx="23487253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87253" cy="63247"/>
            </a:xfrm>
            <a:custGeom>
              <a:avLst/>
              <a:gdLst/>
              <a:ahLst/>
              <a:cxnLst/>
              <a:rect l="l" t="t" r="r" b="b"/>
              <a:pathLst>
                <a:path w="23487253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3455630" y="0"/>
                  </a:lnTo>
                  <a:cubicBezTo>
                    <a:pt x="23473156" y="0"/>
                    <a:pt x="23487253" y="14224"/>
                    <a:pt x="23487253" y="31623"/>
                  </a:cubicBezTo>
                  <a:cubicBezTo>
                    <a:pt x="23487253" y="49022"/>
                    <a:pt x="23473029" y="63246"/>
                    <a:pt x="2345563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8334" y="2205571"/>
            <a:ext cx="18318490" cy="1372657"/>
            <a:chOff x="0" y="0"/>
            <a:chExt cx="24424653" cy="18302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24768" cy="1830197"/>
            </a:xfrm>
            <a:custGeom>
              <a:avLst/>
              <a:gdLst/>
              <a:ahLst/>
              <a:cxnLst/>
              <a:rect l="l" t="t" r="r" b="b"/>
              <a:pathLst>
                <a:path w="24424768" h="1830197">
                  <a:moveTo>
                    <a:pt x="0" y="172847"/>
                  </a:moveTo>
                  <a:cubicBezTo>
                    <a:pt x="0" y="77343"/>
                    <a:pt x="76962" y="0"/>
                    <a:pt x="172085" y="0"/>
                  </a:cubicBezTo>
                  <a:lnTo>
                    <a:pt x="24252682" y="0"/>
                  </a:lnTo>
                  <a:cubicBezTo>
                    <a:pt x="24347678" y="0"/>
                    <a:pt x="24424768" y="77343"/>
                    <a:pt x="24424768" y="172847"/>
                  </a:cubicBezTo>
                  <a:lnTo>
                    <a:pt x="24424768" y="1657350"/>
                  </a:lnTo>
                  <a:cubicBezTo>
                    <a:pt x="24424768" y="1752854"/>
                    <a:pt x="24347805" y="1830197"/>
                    <a:pt x="24252682" y="1830197"/>
                  </a:cubicBezTo>
                  <a:lnTo>
                    <a:pt x="172085" y="1830197"/>
                  </a:lnTo>
                  <a:cubicBezTo>
                    <a:pt x="76962" y="1830197"/>
                    <a:pt x="0" y="1752854"/>
                    <a:pt x="0" y="16573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53" b="-209854"/>
              </a:stretch>
            </a:blip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276435" y="2318814"/>
            <a:ext cx="17748971" cy="4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>
                <a:solidFill>
                  <a:srgbClr val="EDF3F8"/>
                </a:solidFill>
                <a:latin typeface="DM Sans"/>
                <a:ea typeface="DM Sans"/>
                <a:cs typeface="DM Sans"/>
                <a:sym typeface="DM Sans"/>
              </a:rPr>
              <a:t>Don’t touch pricing or the game economy.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435" y="2916841"/>
            <a:ext cx="18025405" cy="49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No segment's spending behavior declined — the ARPDAU drop is a mix effect, not a monetization problem.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8334" y="3790340"/>
            <a:ext cx="18318490" cy="1372657"/>
            <a:chOff x="0" y="0"/>
            <a:chExt cx="24424653" cy="18302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24768" cy="1830197"/>
            </a:xfrm>
            <a:custGeom>
              <a:avLst/>
              <a:gdLst/>
              <a:ahLst/>
              <a:cxnLst/>
              <a:rect l="l" t="t" r="r" b="b"/>
              <a:pathLst>
                <a:path w="24424768" h="1830197">
                  <a:moveTo>
                    <a:pt x="0" y="172847"/>
                  </a:moveTo>
                  <a:cubicBezTo>
                    <a:pt x="0" y="77343"/>
                    <a:pt x="76962" y="0"/>
                    <a:pt x="172085" y="0"/>
                  </a:cubicBezTo>
                  <a:lnTo>
                    <a:pt x="24252682" y="0"/>
                  </a:lnTo>
                  <a:cubicBezTo>
                    <a:pt x="24347678" y="0"/>
                    <a:pt x="24424768" y="77343"/>
                    <a:pt x="24424768" y="172847"/>
                  </a:cubicBezTo>
                  <a:lnTo>
                    <a:pt x="24424768" y="1657350"/>
                  </a:lnTo>
                  <a:cubicBezTo>
                    <a:pt x="24424768" y="1752854"/>
                    <a:pt x="24347805" y="1830197"/>
                    <a:pt x="24252682" y="1830197"/>
                  </a:cubicBezTo>
                  <a:lnTo>
                    <a:pt x="172085" y="1830197"/>
                  </a:lnTo>
                  <a:cubicBezTo>
                    <a:pt x="76962" y="1830197"/>
                    <a:pt x="0" y="1752854"/>
                    <a:pt x="0" y="16573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53" b="-209854"/>
              </a:stretch>
            </a:blip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76435" y="3903583"/>
            <a:ext cx="17748971" cy="4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>
                <a:solidFill>
                  <a:srgbClr val="EDF3F8"/>
                </a:solidFill>
                <a:latin typeface="DM Sans"/>
                <a:ea typeface="DM Sans"/>
                <a:cs typeface="DM Sans"/>
                <a:sym typeface="DM Sans"/>
              </a:rPr>
              <a:t>Make a deliberate call on the Tier 4 acquisition mix.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6435" y="4501610"/>
            <a:ext cx="18025405" cy="49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It's likely cheaper, but lower-value — that trade-off needs cost-per-install data to resolve.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8334" y="5375110"/>
            <a:ext cx="18318490" cy="1372657"/>
            <a:chOff x="0" y="0"/>
            <a:chExt cx="24424653" cy="18302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424768" cy="1830197"/>
            </a:xfrm>
            <a:custGeom>
              <a:avLst/>
              <a:gdLst/>
              <a:ahLst/>
              <a:cxnLst/>
              <a:rect l="l" t="t" r="r" b="b"/>
              <a:pathLst>
                <a:path w="24424768" h="1830197">
                  <a:moveTo>
                    <a:pt x="0" y="172847"/>
                  </a:moveTo>
                  <a:cubicBezTo>
                    <a:pt x="0" y="77343"/>
                    <a:pt x="76962" y="0"/>
                    <a:pt x="172085" y="0"/>
                  </a:cubicBezTo>
                  <a:lnTo>
                    <a:pt x="24252682" y="0"/>
                  </a:lnTo>
                  <a:cubicBezTo>
                    <a:pt x="24347678" y="0"/>
                    <a:pt x="24424768" y="77343"/>
                    <a:pt x="24424768" y="172847"/>
                  </a:cubicBezTo>
                  <a:lnTo>
                    <a:pt x="24424768" y="1657350"/>
                  </a:lnTo>
                  <a:cubicBezTo>
                    <a:pt x="24424768" y="1752854"/>
                    <a:pt x="24347805" y="1830197"/>
                    <a:pt x="24252682" y="1830197"/>
                  </a:cubicBezTo>
                  <a:lnTo>
                    <a:pt x="172085" y="1830197"/>
                  </a:lnTo>
                  <a:cubicBezTo>
                    <a:pt x="76962" y="1830197"/>
                    <a:pt x="0" y="1752854"/>
                    <a:pt x="0" y="16573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53" b="-209854"/>
              </a:stretch>
            </a:blip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76435" y="5488353"/>
            <a:ext cx="17748971" cy="4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>
                <a:solidFill>
                  <a:srgbClr val="EDF3F8"/>
                </a:solidFill>
                <a:latin typeface="DM Sans"/>
                <a:ea typeface="DM Sans"/>
                <a:cs typeface="DM Sans"/>
                <a:sym typeface="DM Sans"/>
              </a:rPr>
              <a:t>Lean into Paid Video for low-tier markets; keep Organic strong in Tier 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435" y="6086380"/>
            <a:ext cx="18025405" cy="49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Both are real, tier-specific edges backed by significance testing.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-8334" y="6959879"/>
            <a:ext cx="18318490" cy="1372657"/>
            <a:chOff x="0" y="0"/>
            <a:chExt cx="24424653" cy="18302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424768" cy="1830197"/>
            </a:xfrm>
            <a:custGeom>
              <a:avLst/>
              <a:gdLst/>
              <a:ahLst/>
              <a:cxnLst/>
              <a:rect l="l" t="t" r="r" b="b"/>
              <a:pathLst>
                <a:path w="24424768" h="1830197">
                  <a:moveTo>
                    <a:pt x="0" y="172847"/>
                  </a:moveTo>
                  <a:cubicBezTo>
                    <a:pt x="0" y="77343"/>
                    <a:pt x="76962" y="0"/>
                    <a:pt x="172085" y="0"/>
                  </a:cubicBezTo>
                  <a:lnTo>
                    <a:pt x="24252682" y="0"/>
                  </a:lnTo>
                  <a:cubicBezTo>
                    <a:pt x="24347678" y="0"/>
                    <a:pt x="24424768" y="77343"/>
                    <a:pt x="24424768" y="172847"/>
                  </a:cubicBezTo>
                  <a:lnTo>
                    <a:pt x="24424768" y="1657350"/>
                  </a:lnTo>
                  <a:cubicBezTo>
                    <a:pt x="24424768" y="1752854"/>
                    <a:pt x="24347805" y="1830197"/>
                    <a:pt x="24252682" y="1830197"/>
                  </a:cubicBezTo>
                  <a:lnTo>
                    <a:pt x="172085" y="1830197"/>
                  </a:lnTo>
                  <a:cubicBezTo>
                    <a:pt x="76962" y="1830197"/>
                    <a:pt x="0" y="1752854"/>
                    <a:pt x="0" y="16573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53" b="-209854"/>
              </a:stretch>
            </a:blip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76435" y="7073122"/>
            <a:ext cx="17748971" cy="4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>
                <a:solidFill>
                  <a:srgbClr val="EDF3F8"/>
                </a:solidFill>
                <a:latin typeface="DM Sans"/>
                <a:ea typeface="DM Sans"/>
                <a:cs typeface="DM Sans"/>
                <a:sym typeface="DM Sans"/>
              </a:rPr>
              <a:t>Keep the current sale cadence.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6435" y="7671149"/>
            <a:ext cx="18025405" cy="49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A real, sizeable revenue segment (24%) depends on it; there's no evidence more sales would grow it further.</a:t>
            </a:r>
          </a:p>
        </p:txBody>
      </p:sp>
      <p:sp>
        <p:nvSpPr>
          <p:cNvPr id="26" name="Freeform 26"/>
          <p:cNvSpPr/>
          <p:nvPr/>
        </p:nvSpPr>
        <p:spPr>
          <a:xfrm>
            <a:off x="-8334" y="8544649"/>
            <a:ext cx="18318490" cy="1372657"/>
          </a:xfrm>
          <a:custGeom>
            <a:avLst/>
            <a:gdLst/>
            <a:ahLst/>
            <a:cxnLst/>
            <a:rect l="l" t="t" r="r" b="b"/>
            <a:pathLst>
              <a:path w="18318490" h="1372657">
                <a:moveTo>
                  <a:pt x="0" y="0"/>
                </a:moveTo>
                <a:lnTo>
                  <a:pt x="18318489" y="0"/>
                </a:lnTo>
                <a:lnTo>
                  <a:pt x="18318489" y="1372657"/>
                </a:lnTo>
                <a:lnTo>
                  <a:pt x="0" y="13726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76435" y="8657892"/>
            <a:ext cx="17748971" cy="4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Pilot the churn model at a tuned threshold, not the default.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6435" y="9255919"/>
            <a:ext cx="18025405" cy="49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But confirm real offer cost and save-rate numbers first — the business case depends on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96064"/>
            <a:ext cx="16471659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BEFORE ACTING ON THIS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208294"/>
            <a:ext cx="16471659" cy="7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WHAT WE’RE STILL UNCERTAIN ABOUT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2321147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06751" y="2891914"/>
            <a:ext cx="8023765" cy="2312108"/>
            <a:chOff x="0" y="0"/>
            <a:chExt cx="10698353" cy="30828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98353" cy="3082798"/>
            </a:xfrm>
            <a:custGeom>
              <a:avLst/>
              <a:gdLst/>
              <a:ahLst/>
              <a:cxnLst/>
              <a:rect l="l" t="t" r="r" b="b"/>
              <a:pathLst>
                <a:path w="10698353" h="3082798">
                  <a:moveTo>
                    <a:pt x="0" y="0"/>
                  </a:moveTo>
                  <a:lnTo>
                    <a:pt x="10698353" y="0"/>
                  </a:lnTo>
                  <a:lnTo>
                    <a:pt x="10698353" y="3082798"/>
                  </a:lnTo>
                  <a:lnTo>
                    <a:pt x="0" y="3082798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29658" y="3195771"/>
            <a:ext cx="76924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ACQUISITION COST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9658" y="3560426"/>
            <a:ext cx="7377932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No marketing cost / cost-per-install data exists in this dataset — we can see the Tier 4 acquisition shift, but not whether it’s worth its price.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71352" y="2891914"/>
            <a:ext cx="8023765" cy="2312108"/>
            <a:chOff x="0" y="0"/>
            <a:chExt cx="10698353" cy="30828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8353" cy="3082798"/>
            </a:xfrm>
            <a:custGeom>
              <a:avLst/>
              <a:gdLst/>
              <a:ahLst/>
              <a:cxnLst/>
              <a:rect l="l" t="t" r="r" b="b"/>
              <a:pathLst>
                <a:path w="10698353" h="3082798">
                  <a:moveTo>
                    <a:pt x="0" y="0"/>
                  </a:moveTo>
                  <a:lnTo>
                    <a:pt x="10698353" y="0"/>
                  </a:lnTo>
                  <a:lnTo>
                    <a:pt x="10698353" y="3082798"/>
                  </a:lnTo>
                  <a:lnTo>
                    <a:pt x="0" y="3082798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694259" y="3195771"/>
            <a:ext cx="76924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CHANNEL SAMPLE SIZE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4259" y="3560426"/>
            <a:ext cx="7377932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The Organic vs. Paid Video gap in Tier 1 looks real but isn’t statistically provable yet — the sample there is too small to be sure.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06751" y="5644848"/>
            <a:ext cx="8023765" cy="2312108"/>
            <a:chOff x="0" y="0"/>
            <a:chExt cx="10698353" cy="30828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98353" cy="3082798"/>
            </a:xfrm>
            <a:custGeom>
              <a:avLst/>
              <a:gdLst/>
              <a:ahLst/>
              <a:cxnLst/>
              <a:rect l="l" t="t" r="r" b="b"/>
              <a:pathLst>
                <a:path w="10698353" h="3082798">
                  <a:moveTo>
                    <a:pt x="0" y="0"/>
                  </a:moveTo>
                  <a:lnTo>
                    <a:pt x="10698353" y="0"/>
                  </a:lnTo>
                  <a:lnTo>
                    <a:pt x="10698353" y="3082798"/>
                  </a:lnTo>
                  <a:lnTo>
                    <a:pt x="0" y="3082798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29658" y="5948705"/>
            <a:ext cx="76924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LIVE-OPS PARAMETERS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9658" y="6313370"/>
            <a:ext cx="7377932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The churn-targeting threshold depends on offer cost and real save-rate data we don’t have — get these before setting it live.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371352" y="5644848"/>
            <a:ext cx="8023765" cy="2312108"/>
            <a:chOff x="0" y="0"/>
            <a:chExt cx="10698353" cy="30828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98353" cy="3082798"/>
            </a:xfrm>
            <a:custGeom>
              <a:avLst/>
              <a:gdLst/>
              <a:ahLst/>
              <a:cxnLst/>
              <a:rect l="l" t="t" r="r" b="b"/>
              <a:pathLst>
                <a:path w="10698353" h="3082798">
                  <a:moveTo>
                    <a:pt x="0" y="0"/>
                  </a:moveTo>
                  <a:lnTo>
                    <a:pt x="10698353" y="0"/>
                  </a:lnTo>
                  <a:lnTo>
                    <a:pt x="10698353" y="3082798"/>
                  </a:lnTo>
                  <a:lnTo>
                    <a:pt x="0" y="3082798"/>
                  </a:lnTo>
                  <a:close/>
                </a:path>
              </a:pathLst>
            </a:custGeom>
            <a:solidFill>
              <a:srgbClr val="0B1621"/>
            </a:solidFill>
            <a:ln w="9532" cap="sq">
              <a:solidFill>
                <a:srgbClr val="2A3A49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694259" y="5948705"/>
            <a:ext cx="7692495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COHORT BIAS IN VALUATION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94259" y="6313370"/>
            <a:ext cx="7377932" cy="132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4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The install-value model (Task 4b) was trained only on early, higher-tier cohorts — it may understate what a typical install looks like today.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5095" y="8196434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FULL METHODOLOGY, SQL, DATA-QUALITY NOTES, AND ALL FOUR UNDERLYING ANALYSES ARE IN THE APPENDIX.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781679"/>
            <a:ext cx="130781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METHODOLOGY, RECONCILIATION &amp; MODEL AUDIT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877" y="3431534"/>
            <a:ext cx="11648361" cy="148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</a:pPr>
            <a:r>
              <a:rPr lang="en-US" sz="6605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APPENDIX — PLAYER DATA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0877" y="6062739"/>
            <a:ext cx="11267075" cy="934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Methodology, data-quality decisions, model detail, dead ends, and the next week of work behind the executive readout.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095" y="9208360"/>
            <a:ext cx="130781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120 DAYS OF TELEMETRY · 80,295 PLAYERS · RECONCILED TABLES &amp; MODEL DIAGNOSTICS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794599" y="7494880"/>
            <a:ext cx="4608871" cy="1672981"/>
          </a:xfrm>
          <a:custGeom>
            <a:avLst/>
            <a:gdLst/>
            <a:ahLst/>
            <a:cxnLst/>
            <a:rect l="l" t="t" r="r" b="b"/>
            <a:pathLst>
              <a:path w="4608871" h="1672981">
                <a:moveTo>
                  <a:pt x="0" y="0"/>
                </a:moveTo>
                <a:lnTo>
                  <a:pt x="4608871" y="0"/>
                </a:lnTo>
                <a:lnTo>
                  <a:pt x="4608871" y="1672980"/>
                </a:lnTo>
                <a:lnTo>
                  <a:pt x="0" y="1672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278364" y="7759484"/>
            <a:ext cx="3641303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TECHNICAL APPENDIX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SECTIONS 01 –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38914"/>
            <a:ext cx="17386744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E9AB4"/>
                </a:solidFill>
                <a:latin typeface="DM Sans"/>
                <a:ea typeface="DM Sans"/>
                <a:cs typeface="DM Sans"/>
                <a:sym typeface="DM Sans"/>
              </a:rPr>
              <a:t>DATA PIPELINE · RECONCILIATION &amp; COHORT COVERAGE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235078"/>
            <a:ext cx="16471659" cy="131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Revenue, retention, and engagement now reconcile to their source tables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2857948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8B7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5095" y="3177283"/>
            <a:ext cx="6405658" cy="6202680"/>
            <a:chOff x="0" y="0"/>
            <a:chExt cx="8540877" cy="82702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40877" cy="8270240"/>
            </a:xfrm>
            <a:custGeom>
              <a:avLst/>
              <a:gdLst/>
              <a:ahLst/>
              <a:cxnLst/>
              <a:rect l="l" t="t" r="r" b="b"/>
              <a:pathLst>
                <a:path w="8540877" h="8270240">
                  <a:moveTo>
                    <a:pt x="0" y="0"/>
                  </a:moveTo>
                  <a:lnTo>
                    <a:pt x="8540877" y="0"/>
                  </a:lnTo>
                  <a:lnTo>
                    <a:pt x="8540877" y="8270240"/>
                  </a:lnTo>
                  <a:lnTo>
                    <a:pt x="0" y="8270240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43867" y="4157996"/>
            <a:ext cx="6176867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REVENUE RECONCILIATION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67" y="4687510"/>
            <a:ext cx="5948096" cy="1414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32"/>
              </a:lnSpc>
            </a:pPr>
            <a:r>
              <a:rPr lang="en-US" sz="1080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~15.5%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867" y="6528311"/>
            <a:ext cx="5948096" cy="818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Early join revenue undercount — fixed</a:t>
            </a:r>
          </a:p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Revenue is computed independently of player_day.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3867" y="7520502"/>
            <a:ext cx="5948077" cy="28575"/>
            <a:chOff x="0" y="0"/>
            <a:chExt cx="7930769" cy="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930769" cy="38100"/>
            </a:xfrm>
            <a:custGeom>
              <a:avLst/>
              <a:gdLst/>
              <a:ahLst/>
              <a:cxnLst/>
              <a:rect l="l" t="t" r="r" b="b"/>
              <a:pathLst>
                <a:path w="793076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11719" y="0"/>
                  </a:lnTo>
                  <a:cubicBezTo>
                    <a:pt x="7922260" y="0"/>
                    <a:pt x="7930769" y="8509"/>
                    <a:pt x="7930769" y="19050"/>
                  </a:cubicBezTo>
                  <a:cubicBezTo>
                    <a:pt x="7930769" y="29591"/>
                    <a:pt x="7922260" y="38100"/>
                    <a:pt x="79117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78B7F0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143867" y="7627077"/>
            <a:ext cx="5948096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Validation: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total revenue matches the raw purchase table exactly; maximum active-purchaser rate is 6.4%.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778134" y="3177283"/>
            <a:ext cx="9608630" cy="6202680"/>
            <a:chOff x="0" y="0"/>
            <a:chExt cx="12811506" cy="82702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1506" cy="8270240"/>
            </a:xfrm>
            <a:custGeom>
              <a:avLst/>
              <a:gdLst/>
              <a:ahLst/>
              <a:cxnLst/>
              <a:rect l="l" t="t" r="r" b="b"/>
              <a:pathLst>
                <a:path w="12811506" h="8270240">
                  <a:moveTo>
                    <a:pt x="0" y="0"/>
                  </a:moveTo>
                  <a:lnTo>
                    <a:pt x="12811506" y="0"/>
                  </a:lnTo>
                  <a:lnTo>
                    <a:pt x="12811506" y="8270240"/>
                  </a:lnTo>
                  <a:lnTo>
                    <a:pt x="0" y="8270240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8006906" y="5278443"/>
          <a:ext cx="9093200" cy="1955800"/>
        </p:xfrm>
        <a:graphic>
          <a:graphicData uri="http://schemas.openxmlformats.org/drawingml/2006/table">
            <a:tbl>
              <a:tblPr/>
              <a:tblGrid>
                <a:gridCol w="2304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540"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Daily health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240 rows across 120 days × 2 platforms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874"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Retention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49 weekly cohorts across Day 1/7/14/30; milestones outside Jan 1–Apr 30 remain NULL, not 0%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87"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Boundary caveat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0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2–3 cohorts are slightly understated; final cohort D1 is 35.2% versus a typical ~47–50%</a:t>
                      </a:r>
                      <a:endParaRPr lang="en-US" sz="1100"/>
                    </a:p>
                  </a:txBody>
                  <a:tcPr marL="100010" marR="100010" marT="100010" marB="100010" anchor="ctr">
                    <a:lnL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6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57964"/>
            <a:ext cx="16471659" cy="60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Three data-quality corrections changed what we trust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688135"/>
            <a:ext cx="7892701" cy="3502724"/>
            <a:chOff x="0" y="0"/>
            <a:chExt cx="10523601" cy="4670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23601" cy="4670298"/>
            </a:xfrm>
            <a:custGeom>
              <a:avLst/>
              <a:gdLst/>
              <a:ahLst/>
              <a:cxnLst/>
              <a:rect l="l" t="t" r="r" b="b"/>
              <a:pathLst>
                <a:path w="10523601" h="4670298">
                  <a:moveTo>
                    <a:pt x="0" y="0"/>
                  </a:moveTo>
                  <a:lnTo>
                    <a:pt x="10523601" y="0"/>
                  </a:lnTo>
                  <a:lnTo>
                    <a:pt x="10523601" y="4670298"/>
                  </a:lnTo>
                  <a:lnTo>
                    <a:pt x="0" y="4670298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43867" y="1840716"/>
            <a:ext cx="766389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AD TIMESTAMPS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867" y="2202218"/>
            <a:ext cx="7435120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Shifted back 8 hours; the correction exposed an isolated 48-hour outage on March 5–6.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94082" y="1688135"/>
            <a:ext cx="7892701" cy="3502724"/>
            <a:chOff x="0" y="0"/>
            <a:chExt cx="10523601" cy="46702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23601" cy="4670298"/>
            </a:xfrm>
            <a:custGeom>
              <a:avLst/>
              <a:gdLst/>
              <a:ahLst/>
              <a:cxnLst/>
              <a:rect l="l" t="t" r="r" b="b"/>
              <a:pathLst>
                <a:path w="10523601" h="4670298">
                  <a:moveTo>
                    <a:pt x="0" y="0"/>
                  </a:moveTo>
                  <a:lnTo>
                    <a:pt x="10523601" y="0"/>
                  </a:lnTo>
                  <a:lnTo>
                    <a:pt x="10523601" y="4670298"/>
                  </a:lnTo>
                  <a:lnTo>
                    <a:pt x="0" y="4670298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722853" y="1840716"/>
            <a:ext cx="766389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DUPLICATE PURCHASES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2853" y="2202218"/>
            <a:ext cx="7435120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All 122 duplicated purchase IDs were checked pair-by-pair. Identical transaction details confirmed logging duplicates, so the earliest occurrence was kept.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5095" y="5877201"/>
            <a:ext cx="7892701" cy="3502724"/>
            <a:chOff x="0" y="0"/>
            <a:chExt cx="10523601" cy="46702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23601" cy="4670298"/>
            </a:xfrm>
            <a:custGeom>
              <a:avLst/>
              <a:gdLst/>
              <a:ahLst/>
              <a:cxnLst/>
              <a:rect l="l" t="t" r="r" b="b"/>
              <a:pathLst>
                <a:path w="10523601" h="4670298">
                  <a:moveTo>
                    <a:pt x="0" y="0"/>
                  </a:moveTo>
                  <a:lnTo>
                    <a:pt x="10523601" y="0"/>
                  </a:lnTo>
                  <a:lnTo>
                    <a:pt x="10523601" y="4670298"/>
                  </a:lnTo>
                  <a:lnTo>
                    <a:pt x="0" y="4670298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143867" y="6029782"/>
            <a:ext cx="766389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REFUNDS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867" y="6391285"/>
            <a:ext cx="7435120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226 negatives; 222 matched an earlier purchase, while 4 on the final day remain likely boundary artifacts.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94082" y="5877201"/>
            <a:ext cx="7892701" cy="3502724"/>
            <a:chOff x="0" y="0"/>
            <a:chExt cx="10523601" cy="46702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23601" cy="4670298"/>
            </a:xfrm>
            <a:custGeom>
              <a:avLst/>
              <a:gdLst/>
              <a:ahLst/>
              <a:cxnLst/>
              <a:rect l="l" t="t" r="r" b="b"/>
              <a:pathLst>
                <a:path w="10523601" h="4670298">
                  <a:moveTo>
                    <a:pt x="0" y="0"/>
                  </a:moveTo>
                  <a:lnTo>
                    <a:pt x="10523601" y="0"/>
                  </a:lnTo>
                  <a:lnTo>
                    <a:pt x="10523601" y="4670298"/>
                  </a:lnTo>
                  <a:lnTo>
                    <a:pt x="0" y="4670298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722853" y="6029782"/>
            <a:ext cx="766389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IDENTITY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22853" y="6391285"/>
            <a:ext cx="7435120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112 device-ID chains such as A→B→C remain unresolved for future canonical-player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212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15095" y="667283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PAYER ECONOMICS · CONCENTRATION &amp; CADENCE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95" y="953300"/>
            <a:ext cx="17081716" cy="64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Player value is concentrated, but repeat behavior is not uniform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8408" y="2271103"/>
            <a:ext cx="5180752" cy="5943419"/>
          </a:xfrm>
          <a:custGeom>
            <a:avLst/>
            <a:gdLst/>
            <a:ahLst/>
            <a:cxnLst/>
            <a:rect l="l" t="t" r="r" b="b"/>
            <a:pathLst>
              <a:path w="5180752" h="5943419">
                <a:moveTo>
                  <a:pt x="0" y="0"/>
                </a:moveTo>
                <a:lnTo>
                  <a:pt x="5180752" y="0"/>
                </a:lnTo>
                <a:lnTo>
                  <a:pt x="5180752" y="5943419"/>
                </a:lnTo>
                <a:lnTo>
                  <a:pt x="0" y="594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15441" y="2611946"/>
            <a:ext cx="526178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PAYER DISTRIBUTION (N = 11,054)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5441" y="3102769"/>
            <a:ext cx="4346686" cy="739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6"/>
              </a:lnSpc>
            </a:pPr>
            <a:r>
              <a:rPr lang="en-US" sz="57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60.3%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5441" y="4041524"/>
            <a:ext cx="5261781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From Top 10% of Payers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5441" y="4527690"/>
            <a:ext cx="4346686" cy="140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US" sz="15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Top 1%:</a:t>
            </a: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 9.32% of total revenue</a:t>
            </a:r>
          </a:p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US" sz="15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Top 10%:</a:t>
            </a: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 60.26% of total revenue</a:t>
            </a:r>
          </a:p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US" sz="1500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Top 50%:</a:t>
            </a: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 90.92% of total revenue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5441" y="6043336"/>
            <a:ext cx="4346686" cy="5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Ranking payers only avoids diluting "top 1%" across the 86% of players who never pay.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27089" y="2271103"/>
            <a:ext cx="5371348" cy="5943419"/>
          </a:xfrm>
          <a:custGeom>
            <a:avLst/>
            <a:gdLst/>
            <a:ahLst/>
            <a:cxnLst/>
            <a:rect l="l" t="t" r="r" b="b"/>
            <a:pathLst>
              <a:path w="5371348" h="5943419">
                <a:moveTo>
                  <a:pt x="0" y="0"/>
                </a:moveTo>
                <a:lnTo>
                  <a:pt x="5371348" y="0"/>
                </a:lnTo>
                <a:lnTo>
                  <a:pt x="5371348" y="5943419"/>
                </a:lnTo>
                <a:lnTo>
                  <a:pt x="0" y="594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844122" y="2611946"/>
            <a:ext cx="5452424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REPEAT PURCHASE TIMING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4122" y="3036189"/>
            <a:ext cx="5452424" cy="53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No Dominant Rhythm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4122" y="3703434"/>
            <a:ext cx="4537329" cy="144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~30%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repeat within 7 days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~44%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repeat between 8–29 days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~26%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wait 30+ days to repeat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4122" y="5338229"/>
            <a:ext cx="4537329" cy="8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425" b="1">
                <a:solidFill>
                  <a:srgbClr val="8EA2B4"/>
                </a:solidFill>
                <a:latin typeface="DM Sans Bold"/>
                <a:ea typeface="DM Sans Bold"/>
                <a:cs typeface="DM Sans Bold"/>
                <a:sym typeface="DM Sans Bold"/>
              </a:rPr>
              <a:t>Exclusion:</a:t>
            </a:r>
            <a:r>
              <a:rPr lang="en-US" sz="142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 110 players whose first purchase predated install timestamp were excluded after uncovering 1–4 day logging inconsistencies.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032028" y="2271103"/>
            <a:ext cx="5371348" cy="5943419"/>
          </a:xfrm>
          <a:custGeom>
            <a:avLst/>
            <a:gdLst/>
            <a:ahLst/>
            <a:cxnLst/>
            <a:rect l="l" t="t" r="r" b="b"/>
            <a:pathLst>
              <a:path w="5371348" h="5943419">
                <a:moveTo>
                  <a:pt x="0" y="0"/>
                </a:moveTo>
                <a:lnTo>
                  <a:pt x="5371347" y="0"/>
                </a:lnTo>
                <a:lnTo>
                  <a:pt x="5371347" y="5943419"/>
                </a:lnTo>
                <a:lnTo>
                  <a:pt x="0" y="594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449061" y="2611946"/>
            <a:ext cx="5452424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REWARDED-AD CAP AUDIT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49061" y="3036189"/>
            <a:ext cx="5452424" cy="53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Caps Rarely Binding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49061" y="3703434"/>
            <a:ext cx="4537329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Cap-5 Player-Days: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1.06% – 1.27%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hit daily limit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49061" y="4494619"/>
            <a:ext cx="4537329" cy="69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Cap-8 Player-Days: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0.02%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7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hit daily limit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49061" y="5381130"/>
            <a:ext cx="4537329" cy="89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42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Daily ad view caps do not artificially suppress monetization; almost no players hit ceiling constraints.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5095" y="8846125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        REPEAT PURCHASES DISPLAY BIMODAL DECAY RATHER THAN A FIXED WEEKLY OR MONTHLY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2939463"/>
            <a:ext cx="16471659" cy="97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60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Sales cadence is not obviously shifting spend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4185790"/>
            <a:ext cx="16471678" cy="28575"/>
            <a:chOff x="0" y="0"/>
            <a:chExt cx="21962237" cy="38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62238" cy="38100"/>
            </a:xfrm>
            <a:custGeom>
              <a:avLst/>
              <a:gdLst/>
              <a:ahLst/>
              <a:cxnLst/>
              <a:rect l="l" t="t" r="r" b="b"/>
              <a:pathLst>
                <a:path w="2196223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43188" y="0"/>
                  </a:lnTo>
                  <a:cubicBezTo>
                    <a:pt x="21953728" y="0"/>
                    <a:pt x="21962238" y="8509"/>
                    <a:pt x="21962238" y="19050"/>
                  </a:cubicBezTo>
                  <a:cubicBezTo>
                    <a:pt x="21962238" y="29591"/>
                    <a:pt x="21953728" y="38100"/>
                    <a:pt x="2194318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15095" y="4488447"/>
            <a:ext cx="8007096" cy="2285524"/>
            <a:chOff x="0" y="0"/>
            <a:chExt cx="10676128" cy="30473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6128" cy="3047365"/>
            </a:xfrm>
            <a:custGeom>
              <a:avLst/>
              <a:gdLst/>
              <a:ahLst/>
              <a:cxnLst/>
              <a:rect l="l" t="t" r="r" b="b"/>
              <a:pathLst>
                <a:path w="10676128" h="3047365">
                  <a:moveTo>
                    <a:pt x="0" y="0"/>
                  </a:moveTo>
                  <a:lnTo>
                    <a:pt x="10676128" y="0"/>
                  </a:lnTo>
                  <a:lnTo>
                    <a:pt x="10676128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43867" y="4641018"/>
            <a:ext cx="7778286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BEHAVIORAL SEGMENTATION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867" y="5002520"/>
            <a:ext cx="7549505" cy="154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43.09% full-price-only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32.84% buy both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— the highest-value segment spends nearly the same on sale and non-sale days.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24.07% sale-only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— no full-price purchase to shift.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79696" y="4488447"/>
            <a:ext cx="8007096" cy="2285524"/>
            <a:chOff x="0" y="0"/>
            <a:chExt cx="10676128" cy="30473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76128" cy="3047365"/>
            </a:xfrm>
            <a:custGeom>
              <a:avLst/>
              <a:gdLst/>
              <a:ahLst/>
              <a:cxnLst/>
              <a:rect l="l" t="t" r="r" b="b"/>
              <a:pathLst>
                <a:path w="10676128" h="3047365">
                  <a:moveTo>
                    <a:pt x="0" y="0"/>
                  </a:moveTo>
                  <a:lnTo>
                    <a:pt x="10676128" y="0"/>
                  </a:lnTo>
                  <a:lnTo>
                    <a:pt x="10676128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608468" y="4641018"/>
            <a:ext cx="7778286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DAY-LEVEL BASELINE TEST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8468" y="5002520"/>
            <a:ext cx="7549505" cy="111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Sales recur in roughly two-week blocks with a sharp 1–2 day spike.</a:t>
            </a:r>
          </a:p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day-level baseline test failed: only </a:t>
            </a: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 of 120 days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qualified as quiet, and half were unrepresentative start-of-window days.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5095" y="6902758"/>
            <a:ext cx="17386744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Conclusion:</a:t>
            </a:r>
            <a:r>
              <a:rPr lang="en-US" sz="1575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 Keep cadence steady; use a holdout experiment to settle incrementality.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667283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ATTRIBUTION &amp; GEO ANALYSIS · STATISTICAL TESTING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953300"/>
            <a:ext cx="17043587" cy="64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Channel performance flips once market mix is controlled</a:t>
            </a:r>
          </a:p>
        </p:txBody>
      </p:sp>
      <p:sp>
        <p:nvSpPr>
          <p:cNvPr id="8" name="Freeform 8"/>
          <p:cNvSpPr/>
          <p:nvPr/>
        </p:nvSpPr>
        <p:spPr>
          <a:xfrm>
            <a:off x="898408" y="2232974"/>
            <a:ext cx="16505025" cy="1939871"/>
          </a:xfrm>
          <a:custGeom>
            <a:avLst/>
            <a:gdLst/>
            <a:ahLst/>
            <a:cxnLst/>
            <a:rect l="l" t="t" r="r" b="b"/>
            <a:pathLst>
              <a:path w="16505025" h="1939871">
                <a:moveTo>
                  <a:pt x="0" y="0"/>
                </a:moveTo>
                <a:lnTo>
                  <a:pt x="16505024" y="0"/>
                </a:lnTo>
                <a:lnTo>
                  <a:pt x="16505024" y="1939871"/>
                </a:lnTo>
                <a:lnTo>
                  <a:pt x="0" y="1939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7312" y="2459431"/>
            <a:ext cx="16662302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CONFOUNDING CHANNEL COMPOSITION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7312" y="2940815"/>
            <a:ext cx="15747206" cy="70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paid_video is 71% Tier 4 installs versus ~35% for organic and paid_social.</a:t>
            </a:r>
            <a:r>
              <a:rPr lang="en-US" sz="16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Raw cross-channel comparisons severely penalize paid_video by confounding acquisition channel efficacy with low-monetizing country mix.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98408" y="4444498"/>
            <a:ext cx="8040443" cy="4132336"/>
          </a:xfrm>
          <a:custGeom>
            <a:avLst/>
            <a:gdLst/>
            <a:ahLst/>
            <a:cxnLst/>
            <a:rect l="l" t="t" r="r" b="b"/>
            <a:pathLst>
              <a:path w="8040443" h="4132336">
                <a:moveTo>
                  <a:pt x="0" y="0"/>
                </a:moveTo>
                <a:lnTo>
                  <a:pt x="8040443" y="0"/>
                </a:lnTo>
                <a:lnTo>
                  <a:pt x="8040443" y="4132336"/>
                </a:lnTo>
                <a:lnTo>
                  <a:pt x="0" y="4132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77312" y="4747222"/>
            <a:ext cx="819770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TIER 1 MONETIZATION (REVENUE / INSTALL)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7312" y="5228606"/>
            <a:ext cx="8197701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Organic vs Paid Social: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7312" y="5767187"/>
            <a:ext cx="8197701" cy="44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425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+$0.426 / player</a:t>
            </a:r>
            <a:r>
              <a:rPr lang="en-US" sz="14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· 95% CI (0.043, 0.809)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7312" y="6362967"/>
            <a:ext cx="819770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Statistically significant advantage for Organic in Tier 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7312" y="6810994"/>
            <a:ext cx="8197701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Organic vs Paid Video: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7312" y="7349576"/>
            <a:ext cx="8197701" cy="44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42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+$0.329 / player</a:t>
            </a:r>
            <a:r>
              <a:rPr lang="en-US" sz="14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2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· 95% CI (-0.216, 0.874)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7312" y="7945355"/>
            <a:ext cx="819770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Interval crosses zero at n=2,271 — directional, not provable.</a:t>
            </a:r>
          </a:p>
        </p:txBody>
      </p:sp>
      <p:sp>
        <p:nvSpPr>
          <p:cNvPr id="19" name="Freeform 19"/>
          <p:cNvSpPr/>
          <p:nvPr/>
        </p:nvSpPr>
        <p:spPr>
          <a:xfrm>
            <a:off x="9363008" y="4444498"/>
            <a:ext cx="8040443" cy="4132336"/>
          </a:xfrm>
          <a:custGeom>
            <a:avLst/>
            <a:gdLst/>
            <a:ahLst/>
            <a:cxnLst/>
            <a:rect l="l" t="t" r="r" b="b"/>
            <a:pathLst>
              <a:path w="8040443" h="4132336">
                <a:moveTo>
                  <a:pt x="0" y="0"/>
                </a:moveTo>
                <a:lnTo>
                  <a:pt x="8040443" y="0"/>
                </a:lnTo>
                <a:lnTo>
                  <a:pt x="8040443" y="4132336"/>
                </a:lnTo>
                <a:lnTo>
                  <a:pt x="0" y="4132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741922" y="4747222"/>
            <a:ext cx="819770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TIER 4 ENGAGEMENT &amp; RETENTION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1922" y="5228606"/>
            <a:ext cx="8197701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Paid Video Engagement Advantage: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41922" y="6081674"/>
            <a:ext cx="7282605" cy="59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0"/>
              </a:lnSpc>
            </a:pPr>
            <a:r>
              <a:rPr lang="en-US" sz="45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+7.04 pts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41922" y="6825310"/>
            <a:ext cx="8197701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DCE6EF"/>
                </a:solidFill>
                <a:latin typeface="DM Sans Bold"/>
                <a:ea typeface="DM Sans Bold"/>
                <a:cs typeface="DM Sans Bold"/>
                <a:sym typeface="DM Sans Bold"/>
              </a:rPr>
              <a:t>95% CI: (5.76, 8.32)</a:t>
            </a: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 · n = 20,336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41922" y="7335279"/>
            <a:ext cx="7282605" cy="61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425" b="1">
                <a:solidFill>
                  <a:srgbClr val="8EA2B4"/>
                </a:solidFill>
                <a:latin typeface="DM Sans Bold"/>
                <a:ea typeface="DM Sans Bold"/>
                <a:cs typeface="DM Sans Bold"/>
                <a:sym typeface="DM Sans Bold"/>
              </a:rPr>
              <a:t>Operational Reality:</a:t>
            </a:r>
            <a:r>
              <a:rPr lang="en-US" sz="1425">
                <a:solidFill>
                  <a:srgbClr val="8EA2B4"/>
                </a:solidFill>
                <a:latin typeface="DM Sans"/>
                <a:ea typeface="DM Sans"/>
                <a:cs typeface="DM Sans"/>
                <a:sym typeface="DM Sans"/>
              </a:rPr>
              <a:t> With no cost-per-install (CPI) data by channel and country tier, channel shifts cannot be finalized into a definitive media budget.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5095" y="9036777"/>
            <a:ext cx="17386744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         </a:t>
            </a: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STRATIFIED COMPARISONS REVERSE UNADJUSTED METRICS: VIDEO WINS RETENTION IN T4, ORGANIC WINS MONETIZATION IN T1.</a:t>
            </a: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57964"/>
            <a:ext cx="16471659" cy="142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The churn model has signal, but threshold economics decide the action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2612336"/>
            <a:ext cx="16471678" cy="28575"/>
            <a:chOff x="0" y="0"/>
            <a:chExt cx="21962237" cy="38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62238" cy="38100"/>
            </a:xfrm>
            <a:custGeom>
              <a:avLst/>
              <a:gdLst/>
              <a:ahLst/>
              <a:cxnLst/>
              <a:rect l="l" t="t" r="r" b="b"/>
              <a:pathLst>
                <a:path w="2196223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43188" y="0"/>
                  </a:lnTo>
                  <a:cubicBezTo>
                    <a:pt x="21953728" y="0"/>
                    <a:pt x="21962238" y="8509"/>
                    <a:pt x="21962238" y="19050"/>
                  </a:cubicBezTo>
                  <a:cubicBezTo>
                    <a:pt x="21962238" y="29591"/>
                    <a:pt x="21953728" y="38100"/>
                    <a:pt x="2194318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78B7F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15095" y="2914993"/>
            <a:ext cx="7892701" cy="6464903"/>
            <a:chOff x="0" y="0"/>
            <a:chExt cx="10523601" cy="86198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23601" cy="8619871"/>
            </a:xfrm>
            <a:custGeom>
              <a:avLst/>
              <a:gdLst/>
              <a:ahLst/>
              <a:cxnLst/>
              <a:rect l="l" t="t" r="r" b="b"/>
              <a:pathLst>
                <a:path w="10523601" h="8619871">
                  <a:moveTo>
                    <a:pt x="0" y="0"/>
                  </a:moveTo>
                  <a:lnTo>
                    <a:pt x="10523601" y="0"/>
                  </a:lnTo>
                  <a:lnTo>
                    <a:pt x="10523601" y="8619871"/>
                  </a:lnTo>
                  <a:lnTo>
                    <a:pt x="0" y="8619871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43867" y="3029474"/>
            <a:ext cx="7435120" cy="1610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39,942 players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active before Mar 17;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25.4%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churned in the following 14 days</a:t>
            </a:r>
          </a:p>
          <a:p>
            <a:pPr algn="l">
              <a:lnSpc>
                <a:spcPts val="2702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ROC-AUC is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0.719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but the default threshold catches only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18%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 churners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94082" y="2914993"/>
            <a:ext cx="7892701" cy="6464903"/>
            <a:chOff x="0" y="0"/>
            <a:chExt cx="10523601" cy="86198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23601" cy="8619871"/>
            </a:xfrm>
            <a:custGeom>
              <a:avLst/>
              <a:gdLst/>
              <a:ahLst/>
              <a:cxnLst/>
              <a:rect l="l" t="t" r="r" b="b"/>
              <a:pathLst>
                <a:path w="10523601" h="8619871">
                  <a:moveTo>
                    <a:pt x="0" y="0"/>
                  </a:moveTo>
                  <a:lnTo>
                    <a:pt x="10523601" y="0"/>
                  </a:lnTo>
                  <a:lnTo>
                    <a:pt x="10523601" y="8619871"/>
                  </a:lnTo>
                  <a:lnTo>
                    <a:pt x="0" y="8619871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722853" y="3029474"/>
            <a:ext cx="7435120" cy="276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Active days and sessions were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0.91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correlated; dropping the redundant feature barely changed performance</a:t>
            </a:r>
          </a:p>
          <a:p>
            <a:pPr algn="l">
              <a:lnSpc>
                <a:spcPts val="2702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Longer-tenured players churn more: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121 versus 70 average days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consistent with a burnout point rather than a data error</a:t>
            </a:r>
          </a:p>
          <a:p>
            <a:pPr algn="l">
              <a:lnSpc>
                <a:spcPts val="2702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Under cheap offers and effective saves, targeting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~20–25%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yields </a:t>
            </a:r>
            <a:r>
              <a:rPr lang="en-US" sz="1800" b="1">
                <a:solidFill>
                  <a:srgbClr val="78B7F0"/>
                </a:solidFill>
                <a:latin typeface="DM Sans Bold"/>
                <a:ea typeface="DM Sans Bold"/>
                <a:cs typeface="DM Sans Bold"/>
                <a:sym typeface="DM Sans Bold"/>
              </a:rPr>
              <a:t>$1,715–$7,976 net value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; under expensive or low-save assumptions, net value turns negative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838914"/>
            <a:ext cx="17386744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E9AB4"/>
                </a:solidFill>
                <a:latin typeface="DM Sans"/>
                <a:ea typeface="DM Sans"/>
                <a:cs typeface="DM Sans"/>
                <a:sym typeface="DM Sans"/>
              </a:rPr>
              <a:t>LTV FORECASTING · COHORT MATURITY &amp; BIDDING LIFT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216028"/>
            <a:ext cx="16471659" cy="60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The install-value model answers the bidding question, with a cohort caveat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2093862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A3A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5095" y="2413197"/>
            <a:ext cx="8007096" cy="6442424"/>
            <a:chOff x="0" y="0"/>
            <a:chExt cx="10676128" cy="85898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76128" cy="8589899"/>
            </a:xfrm>
            <a:custGeom>
              <a:avLst/>
              <a:gdLst/>
              <a:ahLst/>
              <a:cxnLst/>
              <a:rect l="l" t="t" r="r" b="b"/>
              <a:pathLst>
                <a:path w="10676128" h="8589899">
                  <a:moveTo>
                    <a:pt x="0" y="0"/>
                  </a:moveTo>
                  <a:lnTo>
                    <a:pt x="10676128" y="0"/>
                  </a:lnTo>
                  <a:lnTo>
                    <a:pt x="10676128" y="8589899"/>
                  </a:lnTo>
                  <a:lnTo>
                    <a:pt x="0" y="8589899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43867" y="4034819"/>
            <a:ext cx="7778286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PERFORMANCE · 25,494 PLAYERS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67" y="4526232"/>
            <a:ext cx="7549505" cy="8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1"/>
              </a:lnSpc>
            </a:pPr>
            <a:r>
              <a:rPr lang="en-US" sz="660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4.85×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867" y="5615130"/>
            <a:ext cx="7549505" cy="154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Top-decile lift: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captures 48.5% of future revenue from 10% of installs.</a:t>
            </a:r>
          </a:p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Spearman correlation: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0.3245.</a:t>
            </a:r>
          </a:p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Log-transformed revenue prevents the 89% of zero-spenders from being dominated by a few whales.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79696" y="2413197"/>
            <a:ext cx="8007096" cy="6442424"/>
            <a:chOff x="0" y="0"/>
            <a:chExt cx="10676128" cy="858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76128" cy="8589899"/>
            </a:xfrm>
            <a:custGeom>
              <a:avLst/>
              <a:gdLst/>
              <a:ahLst/>
              <a:cxnLst/>
              <a:rect l="l" t="t" r="r" b="b"/>
              <a:pathLst>
                <a:path w="10676128" h="8589899">
                  <a:moveTo>
                    <a:pt x="0" y="0"/>
                  </a:moveTo>
                  <a:lnTo>
                    <a:pt x="10676128" y="0"/>
                  </a:lnTo>
                  <a:lnTo>
                    <a:pt x="10676128" y="8589899"/>
                  </a:lnTo>
                  <a:lnTo>
                    <a:pt x="0" y="8589899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608468" y="4705807"/>
            <a:ext cx="7778286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COHORT MATURITY · 90-DAY WINDOW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8468" y="5067319"/>
            <a:ext cx="7549505" cy="14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68% of all players were excluded</a:t>
            </a: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because their revenue was not fully observable; 25,494 players had a complete 90-day window.</a:t>
            </a:r>
          </a:p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training population is early and Tier-1-heavy, unlike today’s more Tier-4-heavy mix.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5095" y="8984409"/>
            <a:ext cx="17386744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 i="1">
                <a:solidFill>
                  <a:srgbClr val="78B7F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REVALIDATE ON A RECENT COHORT BEFORE TREATING THE RANKING AS CURRENT BIDDING TRUTH.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667283"/>
            <a:ext cx="173104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5" spc="171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FEATURE ENGINEERING · COLLINEARITY DIAGNOSTICS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953300"/>
            <a:ext cx="16395402" cy="64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spc="25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Multicollinearity was a model risk, not a footnote</a:t>
            </a:r>
          </a:p>
        </p:txBody>
      </p:sp>
      <p:sp>
        <p:nvSpPr>
          <p:cNvPr id="8" name="Freeform 8"/>
          <p:cNvSpPr/>
          <p:nvPr/>
        </p:nvSpPr>
        <p:spPr>
          <a:xfrm>
            <a:off x="898408" y="2271103"/>
            <a:ext cx="7849753" cy="5943419"/>
          </a:xfrm>
          <a:custGeom>
            <a:avLst/>
            <a:gdLst/>
            <a:ahLst/>
            <a:cxnLst/>
            <a:rect l="l" t="t" r="r" b="b"/>
            <a:pathLst>
              <a:path w="7849753" h="5943419">
                <a:moveTo>
                  <a:pt x="0" y="0"/>
                </a:moveTo>
                <a:lnTo>
                  <a:pt x="7849752" y="0"/>
                </a:lnTo>
                <a:lnTo>
                  <a:pt x="7849752" y="5943419"/>
                </a:lnTo>
                <a:lnTo>
                  <a:pt x="0" y="594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5441" y="2611946"/>
            <a:ext cx="7930801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CASE 1 · CHURN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5441" y="3083719"/>
            <a:ext cx="7015705" cy="674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r = 0.91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5441" y="3930253"/>
            <a:ext cx="7930801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active_days_14d and total_sessions_14d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5441" y="4416428"/>
            <a:ext cx="7930801" cy="381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Correlated at 0.91; removing one barely moved performance.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72365" y="2271103"/>
            <a:ext cx="8231038" cy="5943419"/>
          </a:xfrm>
          <a:custGeom>
            <a:avLst/>
            <a:gdLst/>
            <a:ahLst/>
            <a:cxnLst/>
            <a:rect l="l" t="t" r="r" b="b"/>
            <a:pathLst>
              <a:path w="8231038" h="5943419">
                <a:moveTo>
                  <a:pt x="0" y="0"/>
                </a:moveTo>
                <a:lnTo>
                  <a:pt x="8231039" y="0"/>
                </a:lnTo>
                <a:lnTo>
                  <a:pt x="8231039" y="5943419"/>
                </a:lnTo>
                <a:lnTo>
                  <a:pt x="0" y="594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589399" y="2611946"/>
            <a:ext cx="8312086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CASE 2 · INSTALL-VALUE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9399" y="3083719"/>
            <a:ext cx="7396991" cy="674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>
                <a:solidFill>
                  <a:srgbClr val="78B7F0"/>
                </a:solidFill>
                <a:latin typeface="Arimo"/>
                <a:ea typeface="Arimo"/>
                <a:cs typeface="Arimo"/>
                <a:sym typeface="Arimo"/>
              </a:rPr>
              <a:t>r = 0.84–0.99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9399" y="3930253"/>
            <a:ext cx="8312086" cy="39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0" b="1">
                <a:solidFill>
                  <a:srgbClr val="EDF3F8"/>
                </a:solidFill>
                <a:latin typeface="DM Sans Bold"/>
                <a:ea typeface="DM Sans Bold"/>
                <a:cs typeface="DM Sans Bold"/>
                <a:sym typeface="DM Sans Bold"/>
              </a:rPr>
              <a:t>Install-value 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89399" y="4416428"/>
            <a:ext cx="7396991" cy="14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active_days_first7, total_sessions_first7, and total_playtime_first7 correlated 0.84–0.99 with max_level_first7.</a:t>
            </a:r>
          </a:p>
          <a:p>
            <a:pPr algn="l">
              <a:lnSpc>
                <a:spcPts val="2251"/>
              </a:lnSpc>
            </a:pPr>
            <a:r>
              <a:rPr lang="en-US" sz="1500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Keeping one clean signal fixed a nonsensical negative coefficient with no performance cost.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7543" y="9036777"/>
            <a:ext cx="17310487" cy="26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5" i="1" spc="171">
                <a:solidFill>
                  <a:srgbClr val="8EA2B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METHODOLOGICAL LESSON: FEWER INTERPRETABLE FEATURES BEAT A CROWDED MODEL THAT TELLS THE WRONG 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B1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2384955"/>
            <a:ext cx="17386744" cy="3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0">
                <a:solidFill>
                  <a:srgbClr val="78B7F0"/>
                </a:solidFill>
                <a:latin typeface="DM Sans"/>
                <a:ea typeface="DM Sans"/>
                <a:cs typeface="DM Sans"/>
                <a:sym typeface="DM Sans"/>
              </a:rPr>
              <a:t>NEXT STEPS · OPERATING WORKSTREAM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2762069"/>
            <a:ext cx="16471659" cy="60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EDF3F8"/>
                </a:solidFill>
                <a:latin typeface="Arimo"/>
                <a:ea typeface="Arimo"/>
                <a:cs typeface="Arimo"/>
                <a:sym typeface="Arimo"/>
              </a:rPr>
              <a:t>One more week would turn caveats into operating inputs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095" y="3639903"/>
            <a:ext cx="16471582" cy="47435"/>
            <a:chOff x="0" y="0"/>
            <a:chExt cx="21962110" cy="632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022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8B7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5095" y="3959247"/>
            <a:ext cx="16471678" cy="834104"/>
            <a:chOff x="0" y="0"/>
            <a:chExt cx="21962237" cy="11121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238" cy="1112139"/>
            </a:xfrm>
            <a:custGeom>
              <a:avLst/>
              <a:gdLst/>
              <a:ahLst/>
              <a:cxnLst/>
              <a:rect l="l" t="t" r="r" b="b"/>
              <a:pathLst>
                <a:path w="21962238" h="1112139">
                  <a:moveTo>
                    <a:pt x="0" y="0"/>
                  </a:moveTo>
                  <a:lnTo>
                    <a:pt x="21962238" y="0"/>
                  </a:lnTo>
                  <a:lnTo>
                    <a:pt x="21962238" y="1112139"/>
                  </a:lnTo>
                  <a:lnTo>
                    <a:pt x="0" y="1112139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96381" y="4333342"/>
            <a:ext cx="1124502" cy="1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5770" y="4257142"/>
            <a:ext cx="15800975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Get real churn-offer cost and save-rate numbers from live-ops records or a controlled test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5095" y="5479523"/>
            <a:ext cx="16471678" cy="834104"/>
            <a:chOff x="0" y="0"/>
            <a:chExt cx="21962237" cy="11121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62238" cy="1112139"/>
            </a:xfrm>
            <a:custGeom>
              <a:avLst/>
              <a:gdLst/>
              <a:ahLst/>
              <a:cxnLst/>
              <a:rect l="l" t="t" r="r" b="b"/>
              <a:pathLst>
                <a:path w="21962238" h="1112139">
                  <a:moveTo>
                    <a:pt x="0" y="0"/>
                  </a:moveTo>
                  <a:lnTo>
                    <a:pt x="21962238" y="0"/>
                  </a:lnTo>
                  <a:lnTo>
                    <a:pt x="21962238" y="1112139"/>
                  </a:lnTo>
                  <a:lnTo>
                    <a:pt x="0" y="1112139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96381" y="5853627"/>
            <a:ext cx="1169184" cy="1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0451" y="5775079"/>
            <a:ext cx="15756293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Revalidate the install-value model against a recent, Tier-4-heavy cohort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5095" y="6999799"/>
            <a:ext cx="16471678" cy="834104"/>
            <a:chOff x="0" y="0"/>
            <a:chExt cx="21962237" cy="11121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62238" cy="1112139"/>
            </a:xfrm>
            <a:custGeom>
              <a:avLst/>
              <a:gdLst/>
              <a:ahLst/>
              <a:cxnLst/>
              <a:rect l="l" t="t" r="r" b="b"/>
              <a:pathLst>
                <a:path w="21962238" h="1112139">
                  <a:moveTo>
                    <a:pt x="0" y="0"/>
                  </a:moveTo>
                  <a:lnTo>
                    <a:pt x="21962238" y="0"/>
                  </a:lnTo>
                  <a:lnTo>
                    <a:pt x="21962238" y="1112139"/>
                  </a:lnTo>
                  <a:lnTo>
                    <a:pt x="0" y="1112139"/>
                  </a:lnTo>
                  <a:close/>
                </a:path>
              </a:pathLst>
            </a:custGeom>
            <a:solidFill>
              <a:srgbClr val="0B1621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96381" y="7373903"/>
            <a:ext cx="1174842" cy="1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5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36119" y="7304227"/>
            <a:ext cx="15750635" cy="39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575">
                <a:solidFill>
                  <a:srgbClr val="DCE6EF"/>
                </a:solidFill>
                <a:latin typeface="DM Sans"/>
                <a:ea typeface="DM Sans"/>
                <a:cs typeface="DM Sans"/>
                <a:sym typeface="DM Sans"/>
              </a:rPr>
              <a:t>Resolve the 112 device-ID chains recursively before analyses that assume canonical identity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2312</Words>
  <Application>Microsoft Office PowerPoint</Application>
  <PresentationFormat>Custom</PresentationFormat>
  <Paragraphs>328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DM Sans Bold</vt:lpstr>
      <vt:lpstr>DM Sans</vt:lpstr>
      <vt:lpstr>Arial</vt:lpstr>
      <vt:lpstr>DM Sans Italics</vt:lpstr>
      <vt:lpstr>Calibri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merged_presentation_choladeck.pptx</dc:title>
  <cp:lastModifiedBy>Surendhar B</cp:lastModifiedBy>
  <cp:revision>2</cp:revision>
  <dcterms:created xsi:type="dcterms:W3CDTF">2006-08-16T00:00:00Z</dcterms:created>
  <dcterms:modified xsi:type="dcterms:W3CDTF">2026-09-27T11:35:07Z</dcterms:modified>
  <dc:identifier>DAHWY8hod_g</dc:identifier>
</cp:coreProperties>
</file>